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gPDOPA5acEa56UHrQGJA7eQms3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f64adeea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f64adee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" name="Google Shape;1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9" name="Google Shape;1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7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6" name="Google Shape;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" name="Google Shape;3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9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8" name="Google Shape;4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1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9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9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0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20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20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0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20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20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20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20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>
            <p:ph type="title"/>
          </p:nvPr>
        </p:nvSpPr>
        <p:spPr>
          <a:xfrm>
            <a:off x="838200" y="365126"/>
            <a:ext cx="10515600" cy="886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rPr lang="es-ES"/>
              <a:t>CUADRO DE MANDO INTEGRAL </a:t>
            </a:r>
            <a:br>
              <a:rPr lang="es-ES"/>
            </a:br>
            <a:r>
              <a:rPr lang="es-ES"/>
              <a:t>DISTRIBUCIONES ALBORADA S.L.</a:t>
            </a:r>
            <a:endParaRPr/>
          </a:p>
        </p:txBody>
      </p:sp>
      <p:grpSp>
        <p:nvGrpSpPr>
          <p:cNvPr id="156" name="Google Shape;156;p1"/>
          <p:cNvGrpSpPr/>
          <p:nvPr/>
        </p:nvGrpSpPr>
        <p:grpSpPr>
          <a:xfrm>
            <a:off x="3243942" y="1982722"/>
            <a:ext cx="5671457" cy="4154088"/>
            <a:chOff x="2906485" y="1522"/>
            <a:chExt cx="5671457" cy="4154088"/>
          </a:xfrm>
        </p:grpSpPr>
        <p:sp>
          <p:nvSpPr>
            <p:cNvPr id="157" name="Google Shape;157;p1"/>
            <p:cNvSpPr/>
            <p:nvPr/>
          </p:nvSpPr>
          <p:spPr>
            <a:xfrm>
              <a:off x="2906485" y="1522"/>
              <a:ext cx="2349597" cy="939839"/>
            </a:xfrm>
            <a:prstGeom prst="chevron">
              <a:avLst>
                <a:gd fmla="val 50000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"/>
            <p:cNvSpPr txBox="1"/>
            <p:nvPr/>
          </p:nvSpPr>
          <p:spPr>
            <a:xfrm>
              <a:off x="3376405" y="1522"/>
              <a:ext cx="1409758" cy="939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" lIns="19050" spcFirstLastPara="1" rIns="0" wrap="square" tIns="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FINANCIERA</a:t>
              </a:r>
              <a:endParaRPr/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4950635" y="81408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"/>
            <p:cNvSpPr txBox="1"/>
            <p:nvPr/>
          </p:nvSpPr>
          <p:spPr>
            <a:xfrm>
              <a:off x="5340668" y="81408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Disminuir los costes logísticos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Incrementar las ventas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el margen bruto</a:t>
              </a:r>
              <a:endParaRPr/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627777" y="81408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"/>
            <p:cNvSpPr txBox="1"/>
            <p:nvPr/>
          </p:nvSpPr>
          <p:spPr>
            <a:xfrm>
              <a:off x="7017810" y="81408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costes logístico mensualmente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facturación por ventas mensual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de margen bruto mensual</a:t>
              </a:r>
              <a:endParaRPr/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2906485" y="1072938"/>
              <a:ext cx="2349597" cy="939839"/>
            </a:xfrm>
            <a:prstGeom prst="chevron">
              <a:avLst>
                <a:gd fmla="val 50000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"/>
            <p:cNvSpPr txBox="1"/>
            <p:nvPr/>
          </p:nvSpPr>
          <p:spPr>
            <a:xfrm>
              <a:off x="3376405" y="1072938"/>
              <a:ext cx="1409758" cy="939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" lIns="19050" spcFirstLastPara="1" rIns="0" wrap="square" tIns="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CLIENTES</a:t>
              </a:r>
              <a:endParaRPr/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4950635" y="1152825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"/>
            <p:cNvSpPr txBox="1"/>
            <p:nvPr/>
          </p:nvSpPr>
          <p:spPr>
            <a:xfrm>
              <a:off x="5340668" y="1152825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 en la calidad percibida 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la comunicación de información a los clientes</a:t>
              </a:r>
              <a:endParaRPr/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627777" y="1152825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"/>
            <p:cNvSpPr txBox="1"/>
            <p:nvPr/>
          </p:nvSpPr>
          <p:spPr>
            <a:xfrm>
              <a:off x="7017810" y="1152825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de los tiempos de entrega 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0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percibida de la claridad en la información</a:t>
              </a:r>
              <a:endParaRPr/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2906485" y="2144355"/>
              <a:ext cx="2349597" cy="939839"/>
            </a:xfrm>
            <a:prstGeom prst="chevron">
              <a:avLst>
                <a:gd fmla="val 50000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"/>
            <p:cNvSpPr txBox="1"/>
            <p:nvPr/>
          </p:nvSpPr>
          <p:spPr>
            <a:xfrm>
              <a:off x="3376405" y="2144355"/>
              <a:ext cx="1409758" cy="939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" lIns="19050" spcFirstLastPara="1" rIns="0" wrap="square" tIns="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PROCESOS INTERNOS</a:t>
              </a:r>
              <a:endParaRPr/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4950635" y="2224241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"/>
            <p:cNvSpPr txBox="1"/>
            <p:nvPr/>
          </p:nvSpPr>
          <p:spPr>
            <a:xfrm>
              <a:off x="5340668" y="2224241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Reducir el tiempo de entrega de los pedidos</a:t>
              </a:r>
              <a:endParaRPr/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6627777" y="2224241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"/>
            <p:cNvSpPr txBox="1"/>
            <p:nvPr/>
          </p:nvSpPr>
          <p:spPr>
            <a:xfrm>
              <a:off x="7017810" y="2224241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Días medios de entrega de pedido</a:t>
              </a:r>
              <a:endParaRPr/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2906485" y="3215771"/>
              <a:ext cx="2349597" cy="939839"/>
            </a:xfrm>
            <a:prstGeom prst="chevron">
              <a:avLst>
                <a:gd fmla="val 50000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"/>
            <p:cNvSpPr txBox="1"/>
            <p:nvPr/>
          </p:nvSpPr>
          <p:spPr>
            <a:xfrm>
              <a:off x="3376405" y="3215771"/>
              <a:ext cx="1409758" cy="939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" lIns="19050" spcFirstLastPara="1" rIns="0" wrap="square" tIns="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APRENDIZAJE Y CONOCIMIENTO</a:t>
              </a:r>
              <a:endParaRPr/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4950635" y="3295658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"/>
            <p:cNvSpPr txBox="1"/>
            <p:nvPr/>
          </p:nvSpPr>
          <p:spPr>
            <a:xfrm>
              <a:off x="5340668" y="3295658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Implementación formación digital y su uso</a:t>
              </a:r>
              <a:endParaRPr/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6627777" y="3295658"/>
              <a:ext cx="1950165" cy="780066"/>
            </a:xfrm>
            <a:prstGeom prst="chevron">
              <a:avLst>
                <a:gd fmla="val 50000" name="adj"/>
              </a:avLst>
            </a:prstGeom>
            <a:solidFill>
              <a:srgbClr val="CBE0F7">
                <a:alpha val="89803"/>
              </a:srgbClr>
            </a:solidFill>
            <a:ln cap="flat" cmpd="sng" w="15875">
              <a:solidFill>
                <a:srgbClr val="CBE0F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"/>
            <p:cNvSpPr txBox="1"/>
            <p:nvPr/>
          </p:nvSpPr>
          <p:spPr>
            <a:xfrm>
              <a:off x="7017810" y="3295658"/>
              <a:ext cx="1170099" cy="780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00" lIns="11425" spcFirstLastPara="1" rIns="0" wrap="square" tIns="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wentieth Century"/>
                <a:buNone/>
              </a:pPr>
              <a:r>
                <a:rPr b="0" i="0" lang="es-ES" sz="9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Twentieth Century"/>
                <a:buAutoNum type="romanLcParenR"/>
              </a:pPr>
              <a:r>
                <a:rPr b="0" i="0" lang="es-ES" sz="7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Porcentaje de pedidos usando el sistema informático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s-ES"/>
              <a:t>CUADRO DE MANDO INTEGRAL </a:t>
            </a:r>
            <a:br>
              <a:rPr b="1" lang="es-ES"/>
            </a:br>
            <a:r>
              <a:rPr b="1" lang="es-ES"/>
              <a:t>DISTRIBUCIONES ALBORADA S.L.</a:t>
            </a:r>
            <a:endParaRPr/>
          </a:p>
        </p:txBody>
      </p:sp>
      <p:grpSp>
        <p:nvGrpSpPr>
          <p:cNvPr id="188" name="Google Shape;188;p2"/>
          <p:cNvGrpSpPr/>
          <p:nvPr/>
        </p:nvGrpSpPr>
        <p:grpSpPr>
          <a:xfrm>
            <a:off x="918296" y="2543847"/>
            <a:ext cx="10355407" cy="3006321"/>
            <a:chOff x="3896" y="11372"/>
            <a:chExt cx="10355407" cy="3006321"/>
          </a:xfrm>
        </p:grpSpPr>
        <p:sp>
          <p:nvSpPr>
            <p:cNvPr id="189" name="Google Shape;189;p2"/>
            <p:cNvSpPr/>
            <p:nvPr/>
          </p:nvSpPr>
          <p:spPr>
            <a:xfrm>
              <a:off x="3896" y="11372"/>
              <a:ext cx="2342852" cy="469942"/>
            </a:xfrm>
            <a:prstGeom prst="rect">
              <a:avLst/>
            </a:prstGeom>
            <a:solidFill>
              <a:srgbClr val="CE6430"/>
            </a:solidFill>
            <a:ln cap="flat" cmpd="sng" w="15875">
              <a:solidFill>
                <a:srgbClr val="CE64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3896" y="11372"/>
              <a:ext cx="2342852" cy="469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b="0" i="0" lang="es-E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FINANCIERA</a:t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896" y="481314"/>
              <a:ext cx="2342852" cy="2536379"/>
            </a:xfrm>
            <a:prstGeom prst="rect">
              <a:avLst/>
            </a:prstGeom>
            <a:solidFill>
              <a:srgbClr val="EDD2CC">
                <a:alpha val="89803"/>
              </a:srgbClr>
            </a:solidFill>
            <a:ln cap="flat" cmpd="sng" w="15875">
              <a:solidFill>
                <a:srgbClr val="EDD2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3896" y="481314"/>
              <a:ext cx="2342852" cy="2536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Disminuir los costes logísticos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Incrementar las ventas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el margen bruto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costes logístico mensualmente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facturación por ventas mensual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de margen bruto mensual</a:t>
              </a: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2674747" y="11372"/>
              <a:ext cx="2342852" cy="469942"/>
            </a:xfrm>
            <a:prstGeom prst="rect">
              <a:avLst/>
            </a:prstGeom>
            <a:solidFill>
              <a:srgbClr val="63CE3F"/>
            </a:solidFill>
            <a:ln cap="flat" cmpd="sng" w="15875">
              <a:solidFill>
                <a:srgbClr val="63CE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"/>
            <p:cNvSpPr txBox="1"/>
            <p:nvPr/>
          </p:nvSpPr>
          <p:spPr>
            <a:xfrm>
              <a:off x="2674747" y="11372"/>
              <a:ext cx="2342852" cy="469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b="0" i="0" lang="es-E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CLIENTES</a:t>
              </a: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2674747" y="481314"/>
              <a:ext cx="2342852" cy="2536379"/>
            </a:xfrm>
            <a:prstGeom prst="rect">
              <a:avLst/>
            </a:prstGeom>
            <a:solidFill>
              <a:srgbClr val="D9ECCD">
                <a:alpha val="89803"/>
              </a:srgbClr>
            </a:solidFill>
            <a:ln cap="flat" cmpd="sng" w="15875">
              <a:solidFill>
                <a:srgbClr val="D9EC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2674747" y="481314"/>
              <a:ext cx="2342852" cy="2536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 en la calidad percibida 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la comunicación de información a los clientes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de los tiempos de entrega 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percibida de la claridad en la información</a:t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345599" y="11372"/>
              <a:ext cx="2342852" cy="469942"/>
            </a:xfrm>
            <a:prstGeom prst="rect">
              <a:avLst/>
            </a:prstGeom>
            <a:solidFill>
              <a:srgbClr val="4DB8CF"/>
            </a:solidFill>
            <a:ln cap="flat" cmpd="sng" w="15875">
              <a:solidFill>
                <a:srgbClr val="4DB8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 txBox="1"/>
            <p:nvPr/>
          </p:nvSpPr>
          <p:spPr>
            <a:xfrm>
              <a:off x="5345599" y="11372"/>
              <a:ext cx="2342852" cy="469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b="0" i="0" lang="es-E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PROCESOS INTERNOS</a:t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5345599" y="481314"/>
              <a:ext cx="2342852" cy="2536379"/>
            </a:xfrm>
            <a:prstGeom prst="rect">
              <a:avLst/>
            </a:prstGeom>
            <a:solidFill>
              <a:srgbClr val="CEEAEC">
                <a:alpha val="89803"/>
              </a:srgbClr>
            </a:solidFill>
            <a:ln cap="flat" cmpd="sng" w="15875">
              <a:solidFill>
                <a:srgbClr val="CEEAE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5345599" y="481314"/>
              <a:ext cx="2342852" cy="2536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Reducir el tiempo de entrega de los pedidos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Días medios de entrega de pedido</a:t>
              </a: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8016451" y="11372"/>
              <a:ext cx="2342852" cy="469942"/>
            </a:xfrm>
            <a:prstGeom prst="rect">
              <a:avLst/>
            </a:prstGeom>
            <a:solidFill>
              <a:srgbClr val="A15BD0"/>
            </a:solidFill>
            <a:ln cap="flat" cmpd="sng" w="15875">
              <a:solidFill>
                <a:srgbClr val="A15B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"/>
            <p:cNvSpPr txBox="1"/>
            <p:nvPr/>
          </p:nvSpPr>
          <p:spPr>
            <a:xfrm>
              <a:off x="8016451" y="11372"/>
              <a:ext cx="2342852" cy="469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wentieth Century"/>
                <a:buNone/>
              </a:pPr>
              <a:r>
                <a:rPr b="0" i="0" lang="es-ES" sz="1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APRENDIZAJE Y CONOCIMIENTO</a:t>
              </a: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8016451" y="481314"/>
              <a:ext cx="2342852" cy="2536379"/>
            </a:xfrm>
            <a:prstGeom prst="rect">
              <a:avLst/>
            </a:prstGeom>
            <a:solidFill>
              <a:srgbClr val="DED0ED">
                <a:alpha val="89803"/>
              </a:srgbClr>
            </a:solidFill>
            <a:ln cap="flat" cmpd="sng" w="15875">
              <a:solidFill>
                <a:srgbClr val="DED0E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"/>
            <p:cNvSpPr txBox="1"/>
            <p:nvPr/>
          </p:nvSpPr>
          <p:spPr>
            <a:xfrm>
              <a:off x="8016451" y="481314"/>
              <a:ext cx="2342852" cy="2536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Implementación formación digital y su uso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alpha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wentieth Century"/>
                <a:buAutoNum type="romanLcParenR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Porcentaje de pedidos usando el sistema informático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9" name="Google Shape;209;g3af64adeea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076061" y="-2"/>
            <a:ext cx="81313" cy="6858002"/>
          </a:xfrm>
          <a:prstGeom prst="rect">
            <a:avLst/>
          </a:prstGeom>
          <a:gradFill>
            <a:gsLst>
              <a:gs pos="0">
                <a:srgbClr val="BBBBBB"/>
              </a:gs>
              <a:gs pos="7000">
                <a:srgbClr val="8A8A8A"/>
              </a:gs>
              <a:gs pos="15928">
                <a:srgbClr val="B5B5B5"/>
              </a:gs>
              <a:gs pos="44260">
                <a:srgbClr val="D5D5D5"/>
              </a:gs>
              <a:gs pos="50447">
                <a:srgbClr val="E6E6E6"/>
              </a:gs>
              <a:gs pos="60158">
                <a:srgbClr val="D5D5D5"/>
              </a:gs>
              <a:gs pos="84000">
                <a:srgbClr val="B5B5B5"/>
              </a:gs>
              <a:gs pos="93000">
                <a:srgbClr val="8A8A8A"/>
              </a:gs>
              <a:gs pos="100000">
                <a:srgbClr val="BBBBBB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18" name="Google Shape;2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"/>
          <p:cNvSpPr txBox="1"/>
          <p:nvPr>
            <p:ph type="title"/>
          </p:nvPr>
        </p:nvSpPr>
        <p:spPr>
          <a:xfrm>
            <a:off x="8474198" y="555171"/>
            <a:ext cx="3358573" cy="5758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5483"/>
              </a:buClr>
              <a:buSzPts val="3200"/>
              <a:buFont typeface="Twentieth Century"/>
              <a:buNone/>
            </a:pPr>
            <a:r>
              <a:rPr b="1" lang="es-ES" sz="3200">
                <a:solidFill>
                  <a:srgbClr val="0A548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CUADRO DE MANDO INTEGRAL </a:t>
            </a:r>
            <a:br>
              <a:rPr b="1" lang="es-ES" sz="3200">
                <a:solidFill>
                  <a:srgbClr val="0A548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s-ES" sz="3200">
                <a:solidFill>
                  <a:srgbClr val="0A548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DISTRIBUCIONES ALBORADA S.L.</a:t>
            </a:r>
            <a:endParaRPr/>
          </a:p>
        </p:txBody>
      </p:sp>
      <p:grpSp>
        <p:nvGrpSpPr>
          <p:cNvPr id="220" name="Google Shape;220;p3"/>
          <p:cNvGrpSpPr/>
          <p:nvPr/>
        </p:nvGrpSpPr>
        <p:grpSpPr>
          <a:xfrm>
            <a:off x="361947" y="1372121"/>
            <a:ext cx="7221997" cy="4124642"/>
            <a:chOff x="2717" y="816950"/>
            <a:chExt cx="7221997" cy="4124642"/>
          </a:xfrm>
        </p:grpSpPr>
        <p:sp>
          <p:nvSpPr>
            <p:cNvPr id="221" name="Google Shape;221;p3"/>
            <p:cNvSpPr/>
            <p:nvPr/>
          </p:nvSpPr>
          <p:spPr>
            <a:xfrm>
              <a:off x="2717" y="816950"/>
              <a:ext cx="1633936" cy="501242"/>
            </a:xfrm>
            <a:prstGeom prst="rect">
              <a:avLst/>
            </a:prstGeom>
            <a:solidFill>
              <a:srgbClr val="CE6430"/>
            </a:solidFill>
            <a:ln cap="flat" cmpd="sng" w="15875">
              <a:solidFill>
                <a:srgbClr val="CE64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2717" y="816950"/>
              <a:ext cx="1633936" cy="501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FINANCIERA</a:t>
              </a: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717" y="1318192"/>
              <a:ext cx="1633936" cy="3623400"/>
            </a:xfrm>
            <a:prstGeom prst="rect">
              <a:avLst/>
            </a:prstGeom>
            <a:solidFill>
              <a:srgbClr val="EDD2CC">
                <a:alpha val="89803"/>
              </a:srgbClr>
            </a:solidFill>
            <a:ln cap="flat" cmpd="sng" w="15875">
              <a:solidFill>
                <a:srgbClr val="EDD2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 txBox="1"/>
            <p:nvPr/>
          </p:nvSpPr>
          <p:spPr>
            <a:xfrm>
              <a:off x="2717" y="1318192"/>
              <a:ext cx="1633936" cy="36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Disminuir los costes logísticos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Incrementar las ventas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el margen bruto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costes logístico mensualmente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facturación por ventas mensual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de margen bruto mensual</a:t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1865404" y="816950"/>
              <a:ext cx="1633936" cy="501242"/>
            </a:xfrm>
            <a:prstGeom prst="rect">
              <a:avLst/>
            </a:prstGeom>
            <a:solidFill>
              <a:srgbClr val="63CE3F"/>
            </a:solidFill>
            <a:ln cap="flat" cmpd="sng" w="15875">
              <a:solidFill>
                <a:srgbClr val="63CE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 txBox="1"/>
            <p:nvPr/>
          </p:nvSpPr>
          <p:spPr>
            <a:xfrm>
              <a:off x="1865404" y="816950"/>
              <a:ext cx="1633936" cy="501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CLIENTES</a:t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1865404" y="1318192"/>
              <a:ext cx="1633936" cy="3623400"/>
            </a:xfrm>
            <a:prstGeom prst="rect">
              <a:avLst/>
            </a:prstGeom>
            <a:solidFill>
              <a:srgbClr val="D9ECCD">
                <a:alpha val="89803"/>
              </a:srgbClr>
            </a:solidFill>
            <a:ln cap="flat" cmpd="sng" w="15875">
              <a:solidFill>
                <a:srgbClr val="D9EC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 txBox="1"/>
            <p:nvPr/>
          </p:nvSpPr>
          <p:spPr>
            <a:xfrm>
              <a:off x="1865404" y="1318192"/>
              <a:ext cx="1633936" cy="36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 en la calidad percibida 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la comunicación de información a los clientes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de los tiempos de entrega 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percibida de la claridad en la información</a:t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28091" y="816950"/>
              <a:ext cx="1633936" cy="501242"/>
            </a:xfrm>
            <a:prstGeom prst="rect">
              <a:avLst/>
            </a:prstGeom>
            <a:solidFill>
              <a:srgbClr val="4DB8CF"/>
            </a:solidFill>
            <a:ln cap="flat" cmpd="sng" w="15875">
              <a:solidFill>
                <a:srgbClr val="4DB8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 txBox="1"/>
            <p:nvPr/>
          </p:nvSpPr>
          <p:spPr>
            <a:xfrm>
              <a:off x="3728091" y="816950"/>
              <a:ext cx="1633936" cy="501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PROCESOS INTERNOS</a:t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3728091" y="1318192"/>
              <a:ext cx="1633936" cy="3623400"/>
            </a:xfrm>
            <a:prstGeom prst="rect">
              <a:avLst/>
            </a:prstGeom>
            <a:solidFill>
              <a:srgbClr val="CEEAEC">
                <a:alpha val="89803"/>
              </a:srgbClr>
            </a:solidFill>
            <a:ln cap="flat" cmpd="sng" w="15875">
              <a:solidFill>
                <a:srgbClr val="CEEAE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 txBox="1"/>
            <p:nvPr/>
          </p:nvSpPr>
          <p:spPr>
            <a:xfrm>
              <a:off x="3728091" y="1318192"/>
              <a:ext cx="1633936" cy="36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Reducir el tiempo de entrega de los pedidos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Días medios de entrega de pedido</a:t>
              </a:r>
              <a:endParaRPr/>
            </a:p>
            <a:p>
              <a:pPr indent="-1905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590778" y="816950"/>
              <a:ext cx="1633936" cy="501242"/>
            </a:xfrm>
            <a:prstGeom prst="rect">
              <a:avLst/>
            </a:prstGeom>
            <a:solidFill>
              <a:srgbClr val="A15BD0"/>
            </a:solidFill>
            <a:ln cap="flat" cmpd="sng" w="15875">
              <a:solidFill>
                <a:srgbClr val="A15B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 txBox="1"/>
            <p:nvPr/>
          </p:nvSpPr>
          <p:spPr>
            <a:xfrm>
              <a:off x="5590778" y="816950"/>
              <a:ext cx="1633936" cy="501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APRENDIZAJE Y CONOCIMIENTO</a:t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5590778" y="1318192"/>
              <a:ext cx="1633936" cy="3623400"/>
            </a:xfrm>
            <a:prstGeom prst="rect">
              <a:avLst/>
            </a:prstGeom>
            <a:solidFill>
              <a:srgbClr val="DED0ED">
                <a:alpha val="89803"/>
              </a:srgbClr>
            </a:solidFill>
            <a:ln cap="flat" cmpd="sng" w="15875">
              <a:solidFill>
                <a:srgbClr val="DED0E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 txBox="1"/>
            <p:nvPr/>
          </p:nvSpPr>
          <p:spPr>
            <a:xfrm>
              <a:off x="5590778" y="1318192"/>
              <a:ext cx="1633936" cy="36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Implementación formación digital y su uso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roman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Porcentaje de pedidos usando el sistema informático</a:t>
              </a:r>
              <a:endParaRPr/>
            </a:p>
            <a:p>
              <a:pPr indent="-1905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8132065" y="0"/>
            <a:ext cx="4059935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B7B7B7"/>
              </a:gs>
            </a:gsLst>
            <a:lin ang="5400000" scaled="0"/>
          </a:gradFill>
          <a:ln>
            <a:noFill/>
          </a:ln>
          <a:effectLst>
            <a:outerShdw blurRad="50800" rotWithShape="0" algn="r" dir="10800000" dist="127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5" name="Google Shape;245;p4"/>
          <p:cNvPicPr preferRelativeResize="0"/>
          <p:nvPr/>
        </p:nvPicPr>
        <p:blipFill rotWithShape="1">
          <a:blip r:embed="rId4">
            <a:alphaModFix/>
          </a:blip>
          <a:srcRect b="0" l="66700" r="0" t="0"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"/>
          <p:cNvSpPr txBox="1"/>
          <p:nvPr>
            <p:ph type="title"/>
          </p:nvPr>
        </p:nvSpPr>
        <p:spPr>
          <a:xfrm>
            <a:off x="8740031" y="1314450"/>
            <a:ext cx="2844002" cy="3680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s-ES" sz="2800"/>
              <a:t>CUADRO DE MANDO INTEGRAL </a:t>
            </a:r>
            <a:br>
              <a:rPr lang="es-ES" sz="2800"/>
            </a:br>
            <a:r>
              <a:rPr lang="es-ES" sz="2800"/>
              <a:t>DISTRIBUCIONES ALBORADA S.L.</a:t>
            </a:r>
            <a:endParaRPr/>
          </a:p>
        </p:txBody>
      </p:sp>
      <p:grpSp>
        <p:nvGrpSpPr>
          <p:cNvPr id="247" name="Google Shape;247;p4"/>
          <p:cNvGrpSpPr/>
          <p:nvPr/>
        </p:nvGrpSpPr>
        <p:grpSpPr>
          <a:xfrm>
            <a:off x="1281704" y="434374"/>
            <a:ext cx="6242393" cy="6043680"/>
            <a:chOff x="0" y="205774"/>
            <a:chExt cx="6242393" cy="6043680"/>
          </a:xfrm>
        </p:grpSpPr>
        <p:sp>
          <p:nvSpPr>
            <p:cNvPr id="248" name="Google Shape;248;p4"/>
            <p:cNvSpPr/>
            <p:nvPr/>
          </p:nvSpPr>
          <p:spPr>
            <a:xfrm>
              <a:off x="0" y="382894"/>
              <a:ext cx="6242393" cy="1738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rgbClr val="4ACA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 txBox="1"/>
            <p:nvPr/>
          </p:nvSpPr>
          <p:spPr>
            <a:xfrm>
              <a:off x="0" y="382894"/>
              <a:ext cx="6242393" cy="17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484475" spcFirstLastPara="1" rIns="484475" wrap="square" tIns="2499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Disminuir los costes logísticos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Incrementar las ventas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el margen bruto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costes logístico mensualmente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facturación por ventas mensual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de margen bruto mensual</a:t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312119" y="205774"/>
              <a:ext cx="4369675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3D3BB"/>
                </a:gs>
                <a:gs pos="50000">
                  <a:srgbClr val="52CAAE"/>
                </a:gs>
                <a:gs pos="100000">
                  <a:srgbClr val="32B89B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 txBox="1"/>
            <p:nvPr/>
          </p:nvSpPr>
          <p:spPr>
            <a:xfrm>
              <a:off x="329412" y="223067"/>
              <a:ext cx="43350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65150" spcFirstLastPara="1" rIns="165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s-ES" sz="1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FINANCIERA</a:t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0" y="2363614"/>
              <a:ext cx="6242393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rgbClr val="4ACA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 txBox="1"/>
            <p:nvPr/>
          </p:nvSpPr>
          <p:spPr>
            <a:xfrm>
              <a:off x="0" y="2363614"/>
              <a:ext cx="6242393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484475" spcFirstLastPara="1" rIns="484475" wrap="square" tIns="2499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 en la calidad percibida 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la comunicación de información a los clientes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de los tiempos de entrega 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percibida de la claridad en la información</a:t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312119" y="2186494"/>
              <a:ext cx="4369675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3D3BB"/>
                </a:gs>
                <a:gs pos="50000">
                  <a:srgbClr val="52CAAE"/>
                </a:gs>
                <a:gs pos="100000">
                  <a:srgbClr val="32B89B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 txBox="1"/>
            <p:nvPr/>
          </p:nvSpPr>
          <p:spPr>
            <a:xfrm>
              <a:off x="329412" y="2203787"/>
              <a:ext cx="43350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65150" spcFirstLastPara="1" rIns="165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s-ES" sz="1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CLIENTES</a:t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0" y="3966334"/>
              <a:ext cx="6242393" cy="1020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rgbClr val="4ACA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 txBox="1"/>
            <p:nvPr/>
          </p:nvSpPr>
          <p:spPr>
            <a:xfrm>
              <a:off x="0" y="3966334"/>
              <a:ext cx="6242393" cy="10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484475" spcFirstLastPara="1" rIns="484475" wrap="square" tIns="2499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Reducir el tiempo de entrega de los pedidos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Días medios de entrega de pedido</a:t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312119" y="3789214"/>
              <a:ext cx="4369675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3D3BB"/>
                </a:gs>
                <a:gs pos="50000">
                  <a:srgbClr val="52CAAE"/>
                </a:gs>
                <a:gs pos="100000">
                  <a:srgbClr val="32B89B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 txBox="1"/>
            <p:nvPr/>
          </p:nvSpPr>
          <p:spPr>
            <a:xfrm>
              <a:off x="329412" y="3806507"/>
              <a:ext cx="43350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65150" spcFirstLastPara="1" rIns="165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s-ES" sz="1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PROCESOS INTERNOS</a:t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0" y="5228854"/>
              <a:ext cx="6242393" cy="1020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rgbClr val="4ACA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 txBox="1"/>
            <p:nvPr/>
          </p:nvSpPr>
          <p:spPr>
            <a:xfrm>
              <a:off x="0" y="5228854"/>
              <a:ext cx="6242393" cy="10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484475" spcFirstLastPara="1" rIns="484475" wrap="square" tIns="2499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Implementación formación digital y su uso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alpha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wentieth Century"/>
                <a:buAutoNum type="romanLcParenR"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Porcentaje de pedidos usando el sistema informático</a:t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312119" y="5051734"/>
              <a:ext cx="4369675" cy="3542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3D3BB"/>
                </a:gs>
                <a:gs pos="50000">
                  <a:srgbClr val="52CAAE"/>
                </a:gs>
                <a:gs pos="100000">
                  <a:srgbClr val="32B89B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329412" y="5069027"/>
              <a:ext cx="43350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65150" spcFirstLastPara="1" rIns="1651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s-ES" sz="1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APRENDIZAJE Y CONOCIMIENTO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2025-12-08T20:48:37Z</dcterms:created>
  <dc:creator>ivan gomez sanchez</dc:creator>
</cp:coreProperties>
</file>