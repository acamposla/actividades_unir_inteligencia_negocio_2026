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JMTyH/r2EljBljU+OwIH4SDsp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Actividad 2: Fundamentos de Visualización para el Análisis de Datos: </a:t>
            </a:r>
            <a:br>
              <a:rPr b="1" lang="es-E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b="1" lang="es-E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Equipo 3, lote 3: Alejandro Campos, Alejandro Cita, Iván Gómez, Leticia Florido. </a:t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0" name="Google Shape;4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8" name="Google Shape;4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8" name="Google Shape;5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2" name="Google Shape;82;p12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4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16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16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6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6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6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17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17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17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7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17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17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17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17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7EC5"/>
              </a:buClr>
              <a:buSzPts val="3600"/>
              <a:buFont typeface="Twentieth Century"/>
              <a:buNone/>
            </a:pPr>
            <a:r>
              <a:rPr b="1" lang="es-ES">
                <a:solidFill>
                  <a:srgbClr val="107EC5"/>
                </a:solidFill>
              </a:rPr>
              <a:t>CUADRO DE MANDO INTEGRAL </a:t>
            </a:r>
            <a:br>
              <a:rPr b="1" lang="es-ES">
                <a:solidFill>
                  <a:srgbClr val="107EC5"/>
                </a:solidFill>
              </a:rPr>
            </a:br>
            <a:r>
              <a:rPr b="1" lang="es-ES">
                <a:solidFill>
                  <a:srgbClr val="107EC5"/>
                </a:solidFill>
              </a:rPr>
              <a:t>DISTRIBUCIONES ALBORADA S.L.</a:t>
            </a:r>
            <a:endParaRPr/>
          </a:p>
        </p:txBody>
      </p:sp>
      <p:grpSp>
        <p:nvGrpSpPr>
          <p:cNvPr id="158" name="Google Shape;158;p1"/>
          <p:cNvGrpSpPr/>
          <p:nvPr/>
        </p:nvGrpSpPr>
        <p:grpSpPr>
          <a:xfrm>
            <a:off x="918296" y="2599319"/>
            <a:ext cx="10355407" cy="3573318"/>
            <a:chOff x="3896" y="66844"/>
            <a:chExt cx="10355407" cy="3573318"/>
          </a:xfrm>
        </p:grpSpPr>
        <p:sp>
          <p:nvSpPr>
            <p:cNvPr id="159" name="Google Shape;159;p1"/>
            <p:cNvSpPr/>
            <p:nvPr/>
          </p:nvSpPr>
          <p:spPr>
            <a:xfrm>
              <a:off x="3896" y="66844"/>
              <a:ext cx="2342852" cy="510928"/>
            </a:xfrm>
            <a:prstGeom prst="rect">
              <a:avLst/>
            </a:prstGeom>
            <a:solidFill>
              <a:srgbClr val="CE6430"/>
            </a:solidFill>
            <a:ln cap="flat" cmpd="sng" w="15875">
              <a:solidFill>
                <a:srgbClr val="CE64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"/>
            <p:cNvSpPr txBox="1"/>
            <p:nvPr/>
          </p:nvSpPr>
          <p:spPr>
            <a:xfrm>
              <a:off x="3896" y="66844"/>
              <a:ext cx="2342852" cy="510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FINANCIERA</a:t>
              </a:r>
              <a:endParaRPr/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3896" y="577772"/>
              <a:ext cx="2342852" cy="3062390"/>
            </a:xfrm>
            <a:prstGeom prst="rect">
              <a:avLst/>
            </a:prstGeom>
            <a:solidFill>
              <a:srgbClr val="EDD2CC">
                <a:alpha val="89803"/>
              </a:srgbClr>
            </a:solidFill>
            <a:ln cap="flat" cmpd="sng" w="15875">
              <a:solidFill>
                <a:srgbClr val="EDD2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"/>
            <p:cNvSpPr txBox="1"/>
            <p:nvPr/>
          </p:nvSpPr>
          <p:spPr>
            <a:xfrm>
              <a:off x="3896" y="577772"/>
              <a:ext cx="2342852" cy="30623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 b="0" i="0" sz="15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Disminuir los costes logísticos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Incrementar las ventas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el margen bruto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de Coste logístico como porcentaje de las ventas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de margen bruto mensual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Evolución facturación por ventas mensual </a:t>
              </a:r>
              <a:endParaRPr/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2674747" y="66844"/>
              <a:ext cx="2342852" cy="510928"/>
            </a:xfrm>
            <a:prstGeom prst="rect">
              <a:avLst/>
            </a:prstGeom>
            <a:solidFill>
              <a:srgbClr val="63CE3F"/>
            </a:solidFill>
            <a:ln cap="flat" cmpd="sng" w="15875">
              <a:solidFill>
                <a:srgbClr val="63CE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"/>
            <p:cNvSpPr txBox="1"/>
            <p:nvPr/>
          </p:nvSpPr>
          <p:spPr>
            <a:xfrm>
              <a:off x="2674747" y="66844"/>
              <a:ext cx="2342852" cy="510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CLIENTES</a:t>
              </a:r>
              <a:endParaRPr/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2674747" y="577772"/>
              <a:ext cx="2342852" cy="3062390"/>
            </a:xfrm>
            <a:prstGeom prst="rect">
              <a:avLst/>
            </a:prstGeom>
            <a:solidFill>
              <a:srgbClr val="D9ECCD">
                <a:alpha val="89803"/>
              </a:srgbClr>
            </a:solidFill>
            <a:ln cap="flat" cmpd="sng" w="15875">
              <a:solidFill>
                <a:srgbClr val="D9EC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"/>
            <p:cNvSpPr txBox="1"/>
            <p:nvPr/>
          </p:nvSpPr>
          <p:spPr>
            <a:xfrm>
              <a:off x="2674747" y="577772"/>
              <a:ext cx="2342852" cy="30623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 b="0" i="0" sz="15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 en la calidad percibida 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Mejorar la comunicación de información a los clientes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Valoración percibida de la claridad en la información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CSAT: Índice de Satisfacción General del Cliente. 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NPS: net promoter score</a:t>
              </a:r>
              <a:endParaRPr/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5345599" y="66844"/>
              <a:ext cx="2342852" cy="510928"/>
            </a:xfrm>
            <a:prstGeom prst="rect">
              <a:avLst/>
            </a:prstGeom>
            <a:solidFill>
              <a:srgbClr val="4DB8CF"/>
            </a:solidFill>
            <a:ln cap="flat" cmpd="sng" w="15875">
              <a:solidFill>
                <a:srgbClr val="4DB8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"/>
            <p:cNvSpPr txBox="1"/>
            <p:nvPr/>
          </p:nvSpPr>
          <p:spPr>
            <a:xfrm>
              <a:off x="5345599" y="66844"/>
              <a:ext cx="2342852" cy="510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PROCESOS INTERNOS</a:t>
              </a:r>
              <a:endParaRPr/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5345599" y="577772"/>
              <a:ext cx="2342852" cy="3062390"/>
            </a:xfrm>
            <a:prstGeom prst="rect">
              <a:avLst/>
            </a:prstGeom>
            <a:solidFill>
              <a:srgbClr val="CEEAEC">
                <a:alpha val="89803"/>
              </a:srgbClr>
            </a:solidFill>
            <a:ln cap="flat" cmpd="sng" w="15875">
              <a:solidFill>
                <a:srgbClr val="CEEAE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"/>
            <p:cNvSpPr txBox="1"/>
            <p:nvPr/>
          </p:nvSpPr>
          <p:spPr>
            <a:xfrm>
              <a:off x="5345599" y="577772"/>
              <a:ext cx="2342852" cy="30623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Objetivos:</a:t>
              </a:r>
              <a:endParaRPr b="0" i="0" sz="15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Reducir el tiempo de entrega de los pedidos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Aumentar la eficiencia en preparación y despacho de pedidos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Porcentaje de pedidos sin errores/defectos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Días medios de entrega de pedido</a:t>
              </a:r>
              <a:endParaRPr/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8016451" y="66844"/>
              <a:ext cx="2342852" cy="510928"/>
            </a:xfrm>
            <a:prstGeom prst="rect">
              <a:avLst/>
            </a:prstGeom>
            <a:solidFill>
              <a:srgbClr val="A15BD0"/>
            </a:solidFill>
            <a:ln cap="flat" cmpd="sng" w="15875">
              <a:solidFill>
                <a:srgbClr val="A15B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"/>
            <p:cNvSpPr txBox="1"/>
            <p:nvPr/>
          </p:nvSpPr>
          <p:spPr>
            <a:xfrm>
              <a:off x="8016451" y="66844"/>
              <a:ext cx="2342852" cy="510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106675" spcFirstLastPara="1" rIns="106675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wentieth Century"/>
                <a:buNone/>
              </a:pPr>
              <a:r>
                <a:rPr b="0" i="0" lang="es-ES" sz="15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APRENDIZAJE Y CONOCIMIENTO</a:t>
              </a:r>
              <a:endParaRPr/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016451" y="577772"/>
              <a:ext cx="2342852" cy="3062390"/>
            </a:xfrm>
            <a:prstGeom prst="rect">
              <a:avLst/>
            </a:prstGeom>
            <a:solidFill>
              <a:srgbClr val="DED0ED">
                <a:alpha val="89803"/>
              </a:srgbClr>
            </a:solidFill>
            <a:ln cap="flat" cmpd="sng" w="15875">
              <a:solidFill>
                <a:srgbClr val="DED0E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"/>
            <p:cNvSpPr txBox="1"/>
            <p:nvPr/>
          </p:nvSpPr>
          <p:spPr>
            <a:xfrm>
              <a:off x="8016451" y="577772"/>
              <a:ext cx="2342852" cy="30623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0000" lIns="80000" spcFirstLastPara="1" rIns="106675" wrap="square" tIns="8000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lphaLcParenR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Objetivos</a:t>
              </a:r>
              <a:endParaRPr b="0" i="0" sz="15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Implementación formación digital y su uso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Fortalecer las capacidades técnicas y digitales de la plantilla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KPIS: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Porcentaje de pedidos usando el sistema informático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Twentieth Century"/>
                <a:buAutoNum type="arabicPeriod" startAt="2"/>
              </a:pPr>
              <a:r>
                <a:rPr b="0" i="0" lang="es-ES" sz="1500" u="none" cap="none" strike="noStrik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Número de Horas de formación por empleado al año</a:t>
              </a:r>
              <a:endParaRPr/>
            </a:p>
          </p:txBody>
        </p:sp>
      </p:grpSp>
      <p:sp>
        <p:nvSpPr>
          <p:cNvPr id="175" name="Google Shape;175;p1"/>
          <p:cNvSpPr txBox="1"/>
          <p:nvPr/>
        </p:nvSpPr>
        <p:spPr>
          <a:xfrm>
            <a:off x="903175" y="-2380200"/>
            <a:ext cx="98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Actividad 2: Fundamentos de Visualización para el Análisis de Datos: </a:t>
            </a:r>
            <a:br>
              <a:rPr b="1" lang="es-E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b="1" lang="es-E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Equipo 3, lote 3: Alejandro Campos, Alejandro Cita, Iván Gómez, Leticia Florido. </a:t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2025-12-08T20:48:37Z</dcterms:created>
  <dc:creator>ivan gomez sanchez</dc:creator>
</cp:coreProperties>
</file>