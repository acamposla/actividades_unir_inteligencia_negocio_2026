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322388"/>
            <a:ext cx="7772400" cy="1470025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Solución</a:t>
            </a:r>
            <a:r>
              <a:rPr dirty="0"/>
              <a:t> de Business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7116" y="2821781"/>
            <a:ext cx="6400800" cy="1752600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 err="1"/>
              <a:t>Análisis</a:t>
            </a:r>
            <a:r>
              <a:rPr dirty="0"/>
              <a:t> de </a:t>
            </a:r>
            <a:r>
              <a:rPr dirty="0" err="1"/>
              <a:t>Rentabilidad</a:t>
            </a:r>
            <a:r>
              <a:rPr dirty="0"/>
              <a:t> y </a:t>
            </a:r>
            <a:r>
              <a:rPr dirty="0" err="1"/>
              <a:t>Rendimiento</a:t>
            </a:r>
            <a:r>
              <a:rPr dirty="0"/>
              <a:t> de Ventas - </a:t>
            </a:r>
            <a:r>
              <a:rPr dirty="0" err="1"/>
              <a:t>AdventureWorks</a:t>
            </a:r>
            <a:br>
              <a:rPr dirty="0"/>
            </a:br>
            <a:br>
              <a:rPr dirty="0"/>
            </a:br>
            <a:r>
              <a:rPr dirty="0"/>
              <a:t>Equipo 3 | Lote 3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2026-01-01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/>
          <a:p>
            <a:pPr marL="0" lvl="0" indent="0">
              <a:buNone/>
            </a:pPr>
            <a:r>
              <a:t>1. Objetivos del Proyecto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Objetivo General:</a:t>
            </a:r>
            <a:r>
              <a:t> Diseñar e implementar una solución de BI end-to-end que monitorice KPIs de ventas de AdventureWorks de forma automatizada.</a:t>
            </a:r>
          </a:p>
          <a:p>
            <a:pPr marL="0" lvl="0" indent="0">
              <a:buNone/>
            </a:pPr>
            <a:r>
              <a:rPr b="1"/>
              <a:t>Objetivos Específicos: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66700"/>
          <a:ext cx="5105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Objetivo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Dashboard interactivo con KPIs y filtros por tiempo/categoría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OE2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Migrar de Excel a PostgreSQL en la nube (DigitalOcean)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Simular operativa diaria de un ERP con 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Orquestación desatendida con cron en VM Linux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OE5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 err="1"/>
                        <a:t>Implementar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gobernanza</a:t>
                      </a:r>
                      <a:r>
                        <a:rPr dirty="0"/>
                        <a:t>: RLS, </a:t>
                      </a:r>
                      <a:r>
                        <a:rPr dirty="0" err="1"/>
                        <a:t>alertas</a:t>
                      </a:r>
                      <a:r>
                        <a:rPr dirty="0"/>
                        <a:t> y </a:t>
                      </a:r>
                      <a:r>
                        <a:rPr dirty="0" err="1"/>
                        <a:t>gestión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secretos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143460" cy="114300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2. </a:t>
            </a:r>
            <a:r>
              <a:rPr dirty="0" err="1"/>
              <a:t>Enfoque</a:t>
            </a:r>
            <a:r>
              <a:rPr dirty="0"/>
              <a:t> </a:t>
            </a:r>
            <a:r>
              <a:rPr dirty="0" err="1"/>
              <a:t>Metodológico</a:t>
            </a:r>
            <a:r>
              <a:rPr dirty="0"/>
              <a:t>: </a:t>
            </a:r>
            <a:r>
              <a:rPr dirty="0" err="1"/>
              <a:t>Arquitectura</a:t>
            </a:r>
            <a:endParaRPr dirty="0"/>
          </a:p>
        </p:txBody>
      </p:sp>
      <p:pic>
        <p:nvPicPr>
          <p:cNvPr id="4" name="Picture 1" descr="pantallazos/digital_ocean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3309938"/>
            <a:ext cx="8229600" cy="212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Infraestructura desplegada en DigitalOcean: BD PostgreSQL + VM Debian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696353" cy="4525963"/>
          </a:xfrm>
        </p:spPr>
        <p:txBody>
          <a:bodyPr/>
          <a:lstStyle/>
          <a:p>
            <a:pPr marL="0" lvl="0" indent="0">
              <a:buNone/>
            </a:pPr>
            <a:r>
              <a:rPr b="1" dirty="0"/>
              <a:t>Stack:</a:t>
            </a:r>
            <a:r>
              <a:rPr dirty="0"/>
              <a:t> PostgreSQL 18 (cloud) → Python/</a:t>
            </a:r>
            <a:r>
              <a:rPr dirty="0" err="1"/>
              <a:t>SQLAlchemy</a:t>
            </a:r>
            <a:r>
              <a:rPr dirty="0"/>
              <a:t> (ETL) → </a:t>
            </a:r>
            <a:r>
              <a:rPr dirty="0" err="1"/>
              <a:t>cron</a:t>
            </a:r>
            <a:r>
              <a:rPr dirty="0"/>
              <a:t> (</a:t>
            </a:r>
            <a:r>
              <a:rPr dirty="0" err="1"/>
              <a:t>orquestación</a:t>
            </a:r>
            <a:r>
              <a:rPr dirty="0"/>
              <a:t>) →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356112" cy="114300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3. </a:t>
            </a:r>
            <a:r>
              <a:rPr dirty="0" err="1"/>
              <a:t>Enfoque</a:t>
            </a:r>
            <a:r>
              <a:rPr dirty="0"/>
              <a:t> </a:t>
            </a:r>
            <a:r>
              <a:rPr dirty="0" err="1"/>
              <a:t>Metodológico</a:t>
            </a:r>
            <a:r>
              <a:rPr dirty="0"/>
              <a:t>: </a:t>
            </a:r>
            <a:r>
              <a:rPr dirty="0" err="1"/>
              <a:t>Automatización</a:t>
            </a:r>
            <a:endParaRPr dirty="0"/>
          </a:p>
        </p:txBody>
      </p:sp>
      <p:pic>
        <p:nvPicPr>
          <p:cNvPr id="3" name="Picture 1" descr="pantallazos/simulate_daily_updated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06600"/>
            <a:ext cx="4038600" cy="320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56134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Script de simulación diaria</a:t>
            </a:r>
          </a:p>
        </p:txBody>
      </p:sp>
      <p:pic>
        <p:nvPicPr>
          <p:cNvPr id="5" name="Picture 1" descr="pantallazos/log_diario_ubutuntu.jp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968500"/>
            <a:ext cx="4038600" cy="326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TextBox 3"/>
          <p:cNvSpPr txBox="1"/>
          <p:nvPr/>
        </p:nvSpPr>
        <p:spPr>
          <a:xfrm>
            <a:off x="4648200" y="56134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Logs de ejecución automática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54502" cy="4525963"/>
          </a:xfrm>
        </p:spPr>
        <p:txBody>
          <a:bodyPr/>
          <a:lstStyle/>
          <a:p>
            <a:pPr marL="0" lvl="0" indent="0">
              <a:buNone/>
            </a:pPr>
            <a:r>
              <a:rPr b="1" dirty="0" err="1"/>
              <a:t>Resultado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Inserción</a:t>
            </a:r>
            <a:r>
              <a:rPr dirty="0"/>
              <a:t> </a:t>
            </a:r>
            <a:r>
              <a:rPr dirty="0" err="1"/>
              <a:t>automática</a:t>
            </a:r>
            <a:r>
              <a:rPr dirty="0"/>
              <a:t> de 5-13 </a:t>
            </a:r>
            <a:r>
              <a:rPr dirty="0" err="1"/>
              <a:t>nuevas</a:t>
            </a:r>
            <a:r>
              <a:rPr dirty="0"/>
              <a:t> </a:t>
            </a:r>
            <a:r>
              <a:rPr dirty="0" err="1"/>
              <a:t>órdenes</a:t>
            </a:r>
            <a:r>
              <a:rPr dirty="0"/>
              <a:t>/día </a:t>
            </a:r>
            <a:r>
              <a:rPr dirty="0" err="1"/>
              <a:t>vía</a:t>
            </a:r>
            <a:r>
              <a:rPr dirty="0"/>
              <a:t> </a:t>
            </a:r>
            <a:r>
              <a:rPr dirty="0" err="1"/>
              <a:t>cron</a:t>
            </a:r>
            <a:r>
              <a:rPr lang="es-ES" dirty="0" err="1"/>
              <a:t>tab</a:t>
            </a:r>
            <a:r>
              <a:rPr lang="es-ES" dirty="0"/>
              <a:t> </a:t>
            </a:r>
            <a:r>
              <a:rPr lang="es-ES" dirty="0" err="1"/>
              <a:t>lynux</a:t>
            </a:r>
            <a:r>
              <a:rPr lang="es-E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9707526" cy="114300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4. </a:t>
            </a:r>
            <a:r>
              <a:rPr dirty="0" err="1"/>
              <a:t>Resultado</a:t>
            </a:r>
            <a:r>
              <a:rPr dirty="0"/>
              <a:t> Final: Dashboard </a:t>
            </a:r>
            <a:r>
              <a:rPr dirty="0" err="1"/>
              <a:t>Interactivo</a:t>
            </a:r>
            <a:endParaRPr dirty="0"/>
          </a:p>
        </p:txBody>
      </p:sp>
      <p:pic>
        <p:nvPicPr>
          <p:cNvPr id="4" name="Picture 1" descr="pantallazos/dashboard_sample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10246" y="1502228"/>
            <a:ext cx="6335233" cy="355583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Dashboard con filtros de categoría (dropdown) y fecha (slider)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785730" cy="4525963"/>
          </a:xfrm>
        </p:spPr>
        <p:txBody>
          <a:bodyPr/>
          <a:lstStyle/>
          <a:p>
            <a:pPr marL="0" lvl="0" indent="0">
              <a:buNone/>
            </a:pPr>
            <a:r>
              <a:rPr b="1" dirty="0" err="1"/>
              <a:t>Interactividad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Filtro</a:t>
            </a:r>
            <a:r>
              <a:rPr dirty="0"/>
              <a:t> Category (dropdown) + Date (slider 2017-2021) + Cross-filtering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5. Resultado Final: Gobernanza</a:t>
            </a:r>
          </a:p>
        </p:txBody>
      </p:sp>
      <p:pic>
        <p:nvPicPr>
          <p:cNvPr id="5" name="Picture 1" descr="pantallazos/Equipo_america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9349" y="2640595"/>
            <a:ext cx="4426689" cy="288152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TextBox 3"/>
          <p:cNvSpPr txBox="1"/>
          <p:nvPr/>
        </p:nvSpPr>
        <p:spPr>
          <a:xfrm>
            <a:off x="457200" y="56134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Row-Level Security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región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RLS:</a:t>
            </a:r>
            <a:r>
              <a:rPr dirty="0"/>
              <a:t> Rol “Equipo America” solo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territorios</a:t>
            </a:r>
            <a:r>
              <a:rPr dirty="0"/>
              <a:t> 1-5</a:t>
            </a:r>
          </a:p>
        </p:txBody>
      </p:sp>
      <p:pic>
        <p:nvPicPr>
          <p:cNvPr id="7" name="Picture 1" descr="pantallazos/Alerta.jp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741928" y="2286000"/>
            <a:ext cx="1651472" cy="303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8" name="TextBox 3"/>
          <p:cNvSpPr txBox="1"/>
          <p:nvPr/>
        </p:nvSpPr>
        <p:spPr>
          <a:xfrm>
            <a:off x="5548364" y="5612809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 err="1"/>
              <a:t>Alertas</a:t>
            </a:r>
            <a:r>
              <a:rPr dirty="0"/>
              <a:t> </a:t>
            </a:r>
            <a:r>
              <a:rPr dirty="0" err="1"/>
              <a:t>automáticas</a:t>
            </a:r>
            <a:r>
              <a:rPr dirty="0"/>
              <a:t> a Teams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600200"/>
            <a:ext cx="6834964" cy="4525963"/>
          </a:xfrm>
        </p:spPr>
        <p:txBody>
          <a:bodyPr/>
          <a:lstStyle/>
          <a:p>
            <a:pPr marL="0" lvl="0" indent="0">
              <a:buNone/>
            </a:pPr>
            <a:r>
              <a:rPr b="1" dirty="0" err="1"/>
              <a:t>Alertas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Notificación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%GM cambia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6. Reflexión: Trabajo en Equipo y Uso de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sz="2400" b="1" dirty="0" err="1"/>
              <a:t>Trabajo</a:t>
            </a:r>
            <a:r>
              <a:rPr sz="2400" b="1" dirty="0"/>
              <a:t> </a:t>
            </a:r>
            <a:r>
              <a:rPr sz="2400" b="1" dirty="0" err="1"/>
              <a:t>en</a:t>
            </a:r>
            <a:r>
              <a:rPr sz="2400" b="1" dirty="0"/>
              <a:t> </a:t>
            </a:r>
            <a:r>
              <a:rPr sz="2400" b="1" dirty="0" err="1"/>
              <a:t>equipo</a:t>
            </a:r>
            <a:r>
              <a:rPr sz="2400" b="1" dirty="0"/>
              <a:t>:</a:t>
            </a:r>
          </a:p>
          <a:p>
            <a:pPr lvl="0"/>
            <a:r>
              <a:rPr sz="2400" dirty="0"/>
              <a:t>División de </a:t>
            </a:r>
            <a:r>
              <a:rPr sz="2400" dirty="0" err="1"/>
              <a:t>tareas</a:t>
            </a:r>
            <a:r>
              <a:rPr sz="2400" dirty="0"/>
              <a:t>: </a:t>
            </a:r>
            <a:r>
              <a:rPr sz="2400" dirty="0" err="1"/>
              <a:t>infraestructura</a:t>
            </a:r>
            <a:r>
              <a:rPr sz="2400" dirty="0"/>
              <a:t>, ETL, </a:t>
            </a:r>
            <a:r>
              <a:rPr sz="2400" dirty="0" err="1"/>
              <a:t>visualización</a:t>
            </a:r>
            <a:r>
              <a:rPr sz="2400" dirty="0"/>
              <a:t>, </a:t>
            </a:r>
            <a:r>
              <a:rPr sz="2400" dirty="0" err="1"/>
              <a:t>documentación</a:t>
            </a:r>
            <a:endParaRPr sz="2400" dirty="0"/>
          </a:p>
          <a:p>
            <a:pPr lvl="0"/>
            <a:r>
              <a:rPr sz="2400" dirty="0" err="1"/>
              <a:t>Coordinación</a:t>
            </a:r>
            <a:r>
              <a:rPr sz="2400" dirty="0"/>
              <a:t> </a:t>
            </a:r>
            <a:r>
              <a:rPr sz="2400" dirty="0" err="1"/>
              <a:t>mediante</a:t>
            </a:r>
            <a:r>
              <a:rPr sz="2400" dirty="0"/>
              <a:t> </a:t>
            </a:r>
            <a:r>
              <a:rPr sz="2400" dirty="0" err="1"/>
              <a:t>repositorio</a:t>
            </a:r>
            <a:r>
              <a:rPr sz="2400" dirty="0"/>
              <a:t> Git </a:t>
            </a:r>
            <a:r>
              <a:rPr sz="2400" dirty="0" err="1"/>
              <a:t>compartido</a:t>
            </a:r>
            <a:endParaRPr sz="2400" dirty="0"/>
          </a:p>
          <a:p>
            <a:pPr lvl="0"/>
            <a:r>
              <a:rPr sz="2400" dirty="0" err="1"/>
              <a:t>Revisión</a:t>
            </a:r>
            <a:r>
              <a:rPr sz="2400" dirty="0"/>
              <a:t> </a:t>
            </a:r>
            <a:r>
              <a:rPr sz="2400" dirty="0" err="1"/>
              <a:t>cruzada</a:t>
            </a:r>
            <a:r>
              <a:rPr sz="2400" dirty="0"/>
              <a:t> de </a:t>
            </a:r>
            <a:r>
              <a:rPr sz="2400" dirty="0" err="1"/>
              <a:t>código</a:t>
            </a:r>
            <a:r>
              <a:rPr sz="2400" dirty="0"/>
              <a:t> y dashboards</a:t>
            </a:r>
          </a:p>
          <a:p>
            <a:pPr marL="0" lvl="0" indent="0">
              <a:buNone/>
            </a:pPr>
            <a:r>
              <a:rPr sz="2400" b="1" dirty="0"/>
              <a:t>Uso de IA (Claude):</a:t>
            </a:r>
          </a:p>
          <a:p>
            <a:pPr lvl="0"/>
            <a:r>
              <a:rPr sz="2400" b="1" dirty="0" err="1"/>
              <a:t>Utilidad</a:t>
            </a:r>
            <a:r>
              <a:rPr sz="2400" b="1" dirty="0"/>
              <a:t>:</a:t>
            </a:r>
            <a:r>
              <a:rPr sz="2400" dirty="0"/>
              <a:t> </a:t>
            </a:r>
            <a:r>
              <a:rPr sz="2400" dirty="0" err="1"/>
              <a:t>Validación</a:t>
            </a:r>
            <a:r>
              <a:rPr sz="2400" dirty="0"/>
              <a:t> </a:t>
            </a:r>
            <a:r>
              <a:rPr sz="2400" dirty="0" err="1"/>
              <a:t>arquitectura</a:t>
            </a:r>
            <a:r>
              <a:rPr sz="2400" dirty="0"/>
              <a:t>, </a:t>
            </a:r>
            <a:r>
              <a:rPr sz="2400" dirty="0" err="1"/>
              <a:t>código</a:t>
            </a:r>
            <a:r>
              <a:rPr sz="2400" dirty="0"/>
              <a:t> </a:t>
            </a:r>
            <a:r>
              <a:rPr sz="2400" dirty="0" err="1"/>
              <a:t>robusto</a:t>
            </a:r>
            <a:r>
              <a:rPr sz="2400" dirty="0"/>
              <a:t>, </a:t>
            </a:r>
            <a:r>
              <a:rPr sz="2400" dirty="0" err="1"/>
              <a:t>depuración</a:t>
            </a:r>
            <a:r>
              <a:rPr sz="2400" dirty="0"/>
              <a:t> SQL</a:t>
            </a:r>
          </a:p>
          <a:p>
            <a:pPr lvl="0"/>
            <a:r>
              <a:rPr sz="2400" b="1" dirty="0" err="1"/>
              <a:t>Limitaciones</a:t>
            </a:r>
            <a:r>
              <a:rPr sz="2400" b="1" dirty="0"/>
              <a:t>:</a:t>
            </a:r>
            <a:r>
              <a:rPr sz="2400" dirty="0"/>
              <a:t> Sin </a:t>
            </a:r>
            <a:r>
              <a:rPr sz="2400" dirty="0" err="1"/>
              <a:t>contexto</a:t>
            </a:r>
            <a:r>
              <a:rPr sz="2400" dirty="0"/>
              <a:t> </a:t>
            </a:r>
            <a:r>
              <a:rPr sz="2400" dirty="0" err="1"/>
              <a:t>completo</a:t>
            </a:r>
            <a:r>
              <a:rPr sz="2400" dirty="0"/>
              <a:t>, sin </a:t>
            </a:r>
            <a:r>
              <a:rPr sz="2400" dirty="0" err="1"/>
              <a:t>acceso</a:t>
            </a:r>
            <a:r>
              <a:rPr sz="2400" dirty="0"/>
              <a:t> a </a:t>
            </a:r>
            <a:r>
              <a:rPr sz="2400" dirty="0" err="1"/>
              <a:t>entorno</a:t>
            </a:r>
            <a:r>
              <a:rPr sz="2400" dirty="0"/>
              <a:t> local</a:t>
            </a:r>
          </a:p>
          <a:p>
            <a:pPr lvl="0"/>
            <a:r>
              <a:rPr sz="2400" b="1" dirty="0"/>
              <a:t>Impacto:</a:t>
            </a:r>
            <a:r>
              <a:rPr sz="2400" dirty="0"/>
              <a:t> </a:t>
            </a:r>
            <a:r>
              <a:rPr sz="2400" dirty="0" err="1"/>
              <a:t>Elevó</a:t>
            </a:r>
            <a:r>
              <a:rPr sz="2400" dirty="0"/>
              <a:t> </a:t>
            </a:r>
            <a:r>
              <a:rPr sz="2400" dirty="0" err="1"/>
              <a:t>calidad</a:t>
            </a:r>
            <a:r>
              <a:rPr sz="2400" dirty="0"/>
              <a:t> </a:t>
            </a:r>
            <a:r>
              <a:rPr sz="2400" dirty="0" err="1"/>
              <a:t>técnica</a:t>
            </a:r>
            <a:r>
              <a:rPr sz="2400" dirty="0"/>
              <a:t> </a:t>
            </a:r>
            <a:r>
              <a:rPr sz="2400" dirty="0" err="1"/>
              <a:t>significativamente</a:t>
            </a: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7. Conclusiones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1531535"/>
              </p:ext>
            </p:extLst>
          </p:nvPr>
        </p:nvGraphicFramePr>
        <p:xfrm>
          <a:off x="1403497" y="2503968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Después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Excel 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BD PostgreSQL en cloud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Sin actualización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Cron diario automático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Sin seguridad por roles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RLS por equipo/región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Sin filtros dinámicos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Dropdown + Slider temporal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Reportes estáticos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 err="1"/>
                        <a:t>Alertas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proactivas</a:t>
                      </a:r>
                      <a:r>
                        <a:rPr dirty="0"/>
                        <a:t> a Teams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 err="1"/>
              <a:t>Próximos</a:t>
            </a:r>
            <a:r>
              <a:rPr b="1" dirty="0"/>
              <a:t> pasos:</a:t>
            </a:r>
            <a:r>
              <a:rPr dirty="0"/>
              <a:t> Gateway Power BI, </a:t>
            </a:r>
            <a:r>
              <a:rPr dirty="0" err="1"/>
              <a:t>ampliar</a:t>
            </a:r>
            <a:r>
              <a:rPr dirty="0"/>
              <a:t> RLS, </a:t>
            </a:r>
            <a:r>
              <a:rPr dirty="0" err="1"/>
              <a:t>integrar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fuentes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Equipo 3 | Lote 3</a:t>
            </a:r>
            <a:r>
              <a:t> — Máster BI y Big Data Analytics, UNIR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373</Words>
  <Application>Microsoft Macintosh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Solución de Business Intelligence</vt:lpstr>
      <vt:lpstr>1. Objetivos del Proyecto</vt:lpstr>
      <vt:lpstr>2. Enfoque Metodológico: Arquitectura</vt:lpstr>
      <vt:lpstr>3. Enfoque Metodológico: Automatización</vt:lpstr>
      <vt:lpstr>PowerPoint Presentation</vt:lpstr>
      <vt:lpstr>4. Resultado Final: Dashboard Interactivo</vt:lpstr>
      <vt:lpstr>5. Resultado Final: Gobernanza</vt:lpstr>
      <vt:lpstr>6. Reflexión: Trabajo en Equipo y Uso de IA</vt:lpstr>
      <vt:lpstr>7. Conclusiones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Solución de Business Intelligence</dc:title>
  <dc:creator>Equipo 3 | Lote 3</dc:creator>
  <cp:keywords/>
  <cp:lastModifiedBy>Alejandro Campos Lamas</cp:lastModifiedBy>
  <cp:revision>1</cp:revision>
  <dcterms:created xsi:type="dcterms:W3CDTF">2026-01-24T20:08:11Z</dcterms:created>
  <dcterms:modified xsi:type="dcterms:W3CDTF">2026-01-25T11:38:47Z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2026-01-01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Análisis de Rentabilidad y Rendimiento de Ventas - AdventureWorks</vt:lpwstr>
  </property>
  <property fmtid="{D5CDD505-2E9C-101B-9397-08002B2CF9AE}" pid="11" name="toc-title">
    <vt:lpwstr>Table of contents</vt:lpwstr>
  </property>
</Properties>
</file>